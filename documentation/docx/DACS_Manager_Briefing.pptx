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7315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0" b="1" i="0">
                <a:solidFill>
                  <a:srgbClr val="1E3A5F"/>
                </a:solidFill>
                <a:latin typeface="Calibri"/>
              </a:rPr>
              <a:t>DACS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7772400" cy="36576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E3A5F"/>
                </a:solidFill>
                <a:latin typeface="Calibri"/>
              </a:rPr>
              <a:t>When Calibration Data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88036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4A6B8A"/>
                </a:solidFill>
                <a:latin typeface="Calibri"/>
              </a:rPr>
              <a:t>A Cross-Format Sensitivity Study for Quantized Fine-Tuned LLMs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03320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E"/>
                </a:solidFill>
                <a:latin typeface="Calibri"/>
              </a:rPr>
              <a:t>Deepank Dixit  |  Optum AI Research  |  April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160520"/>
            <a:ext cx="3291840" cy="475488"/>
          </a:xfrm>
          <a:prstGeom prst="rect">
            <a:avLst/>
          </a:prstGeom>
          <a:solidFill>
            <a:srgbClr val="E8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4206240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3A5F"/>
                </a:solidFill>
                <a:latin typeface="Calibri"/>
              </a:rPr>
              <a:t>🎯  Target: EMNLP 2026 — May 25 Deadline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69680" y="1097280"/>
            <a:ext cx="3017520" cy="50292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6840" y="128016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87C21"/>
                </a:solidFill>
                <a:latin typeface="Calibri"/>
              </a:rPr>
              <a:t>$33.30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6840" y="1627631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28E"/>
                </a:solidFill>
                <a:latin typeface="Calibri"/>
              </a:rPr>
              <a:t>spent on Activity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6840" y="205740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87C21"/>
                </a:solidFill>
                <a:latin typeface="Calibri"/>
              </a:rPr>
              <a:t>83,000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6840" y="240487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28E"/>
                </a:solidFill>
                <a:latin typeface="Calibri"/>
              </a:rPr>
              <a:t>training examples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40" y="2834639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87C21"/>
                </a:solidFill>
                <a:latin typeface="Calibri"/>
              </a:rPr>
              <a:t>61%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3182111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28E"/>
                </a:solidFill>
                <a:latin typeface="Calibri"/>
              </a:rPr>
              <a:t>perplexity reduction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3611879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87C21"/>
                </a:solidFill>
                <a:latin typeface="Calibri"/>
              </a:rPr>
              <a:t>~$8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395935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28E"/>
                </a:solidFill>
                <a:latin typeface="Calibri"/>
              </a:rPr>
              <a:t>remaining GPU cost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438912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87C21"/>
                </a:solidFill>
                <a:latin typeface="Calibri"/>
              </a:rPr>
              <a:t>6 weeks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4736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28E"/>
                </a:solidFill>
                <a:latin typeface="Calibri"/>
              </a:rPr>
              <a:t>to EMNLP deadline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516636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87C21"/>
                </a:solidFill>
                <a:latin typeface="Calibri"/>
              </a:rPr>
              <a:t>40–70%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551383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28E"/>
                </a:solidFill>
                <a:latin typeface="Calibri"/>
              </a:rPr>
              <a:t>Findings (now→w/Act 3+4)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6B728E"/>
                </a:solidFill>
                <a:latin typeface="Calibri"/>
              </a:rPr>
              <a:t>CONFIDENTIAL  ·  Manager Briefing  ·  Not for Distribution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Question: When Does Calibration Data Matter for Quantized Fine-Tuned LLMs?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400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ADCFC"/>
                </a:solidFill>
                <a:latin typeface="Calibri"/>
              </a:rPr>
              <a:t>Sensitivity varies sharply across quantization formats — and the map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6583680" cy="5349240"/>
          </a:xfrm>
          <a:prstGeom prst="rect">
            <a:avLst/>
          </a:prstGeom>
          <a:solidFill>
            <a:srgbClr val="FFFFFF"/>
          </a:solidFill>
          <a:ln w="635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3A5F"/>
                </a:solidFill>
                <a:latin typeface="Calibri"/>
              </a:rPr>
              <a:t>The Deployment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27632"/>
            <a:ext cx="6400800" cy="777240"/>
          </a:xfrm>
          <a:prstGeom prst="rect">
            <a:avLst/>
          </a:prstGeom>
          <a:solidFill>
            <a:srgbClr val="DCFCE8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320040" cy="7772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851660"/>
            <a:ext cx="320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82496"/>
            <a:ext cx="5897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2E"/>
                </a:solidFill>
                <a:latin typeface="Calibri"/>
              </a:rPr>
              <a:t>Fine-Tune on Domain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947672"/>
            <a:ext cx="589788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1A2E"/>
                </a:solidFill>
                <a:latin typeface="Calibri"/>
              </a:rPr>
              <a:t>Llama-3.1-8B trained on 83K cybersecurity examples (CVE records,
threat intelligence Q&amp;A) using QLoRA.  Result: perplexity 5.22 → 2.04  (61% drop).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478024"/>
            <a:ext cx="6400800" cy="777240"/>
          </a:xfrm>
          <a:prstGeom prst="rect">
            <a:avLst/>
          </a:prstGeom>
          <a:solidFill>
            <a:srgbClr val="DCFCE8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478024"/>
            <a:ext cx="320040" cy="7772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702051"/>
            <a:ext cx="320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532888"/>
            <a:ext cx="5897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2E"/>
                </a:solidFill>
                <a:latin typeface="Calibri"/>
              </a:rPr>
              <a:t>Merge Adapter into Base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798064"/>
            <a:ext cx="589788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1A2E"/>
                </a:solidFill>
                <a:latin typeface="Calibri"/>
              </a:rPr>
              <a:t>LoRA adapter matrices mathematically merged back into the 16GB FP16 model.
Produces a standard checkpoint any inference server can load.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328415"/>
            <a:ext cx="6400800" cy="1188720"/>
          </a:xfrm>
          <a:prstGeom prst="rect">
            <a:avLst/>
          </a:prstGeom>
          <a:solidFill>
            <a:srgbClr val="FFF0DB"/>
          </a:solidFill>
          <a:ln w="12700">
            <a:solidFill>
              <a:srgbClr val="E87C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328415"/>
            <a:ext cx="320040" cy="1188720"/>
          </a:xfrm>
          <a:prstGeom prst="rect">
            <a:avLst/>
          </a:prstGeom>
          <a:solidFill>
            <a:srgbClr val="E87C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758184"/>
            <a:ext cx="320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383279"/>
            <a:ext cx="5897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87C21"/>
                </a:solidFill>
                <a:latin typeface="Calibri"/>
              </a:rPr>
              <a:t>Quantize for Deployment  ←  THE AXIS WE STUDY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648456"/>
            <a:ext cx="5897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1A2E"/>
                </a:solidFill>
                <a:latin typeface="Calibri"/>
              </a:rPr>
              <a:t>Every quantization tool (AWQ, SmoothQuant, FP8) needs a calibration dataset
to set compression boundaries. Default: Wikipedia / C4 (generic web text).
But the model was trained on cybersecurity text — not Wikipedia.
The calibration data observes the WRONG activation distribution.
Quantization ranges are set incorrectly. Domain accuracy drops.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590288"/>
            <a:ext cx="6400800" cy="777240"/>
          </a:xfrm>
          <a:prstGeom prst="rect">
            <a:avLst/>
          </a:prstGeom>
          <a:solidFill>
            <a:srgbClr val="FFE4E4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590288"/>
            <a:ext cx="320040" cy="7772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4814316"/>
            <a:ext cx="320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645151"/>
            <a:ext cx="5897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2E"/>
                </a:solidFill>
                <a:latin typeface="Calibri"/>
              </a:rPr>
              <a:t>Serve Efficiently  (broken path)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910327"/>
            <a:ext cx="589788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1A2E"/>
                </a:solidFill>
                <a:latin typeface="Calibri"/>
              </a:rPr>
              <a:t>Deployment outcome depends on (format × calibration) interaction.
Our study maps which pairs are safe and which fail catastrophically.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86600" y="1097280"/>
            <a:ext cx="4800600" cy="53492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1234440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Why This Matters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0" y="1600200"/>
            <a:ext cx="4389120" cy="2743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0" y="169164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ADCFC"/>
                </a:solidFill>
                <a:latin typeface="Calibri"/>
              </a:rPr>
              <a:t>Fine-tuning concentrates weight changes in specific layers (the LoRA-adapted attention and MLP projections).
Those layers now activate very differently on domain text vs. Wikipedia. Technical tokens like  'CVE',  'buffer overflow', 'MITRE ATT&amp;CK'  fire strong, domain-specific activation patterns that generic calibration never sees.
Calibration on Wikipedia sets quantization ranges for Wikipedia-shaped activations. But at inference, the model processes cybersecurity text — and activations look completely different. Ranges are wrong. Accuracy suffers.
The empirical finding: calibration sensitivity is format-dependent and cross-domain. FP8 is insensitive (0.00pp across all 3 domains). AWQ is mildly sensitive (0.30–1.03pp). SmoothQuant is critical: 9.31pp cyber, 2.41pp medical, 1.80pp code — with C2 self-calibration causing catastrophic regression. Hierarchy FP8 &lt; AWQ &lt; SQ is universal.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86600" y="4983480"/>
            <a:ext cx="4800600" cy="14630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69480" y="5074920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OPEN QUESTION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5394960"/>
            <a:ext cx="4434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Williams ACL 2024 established calibration matters on base models. Williams NAACL 2025 showed self-calibration is safe on base models. MixCal (EACL 2026) proposes domain calibration for GPTQ. No prior work has mapped sensitivity across AWQ/SQ/FP8 on a domain fine-tuned LLM or identified the SQ self-calibration failure mode.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Literature Review: What Exists — and What's Missing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400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ADCFC"/>
                </a:solidFill>
                <a:latin typeface="Calibri"/>
              </a:rPr>
              <a:t>Full review of ACL, EMNLP, NAACL, MLSys, NeurIPS through March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78992"/>
            <a:ext cx="5687568" cy="23042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70432"/>
            <a:ext cx="1645920" cy="228600"/>
          </a:xfrm>
          <a:prstGeom prst="rect">
            <a:avLst/>
          </a:prstGeom>
          <a:solidFill>
            <a:srgbClr val="E87C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" y="1188720"/>
            <a:ext cx="1572768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CLOSEST PRIOR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1463039"/>
            <a:ext cx="54589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E3A5F"/>
                </a:solidFill>
                <a:latin typeface="Calibri"/>
              </a:rPr>
              <a:t>Williams &amp; Aletras — ACL 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1737360"/>
            <a:ext cx="54589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6B728E"/>
                </a:solidFill>
                <a:latin typeface="Calibri"/>
              </a:rPr>
              <a:t>"On the Impact of Calibration Data in Post-Training Quantization and Pruning"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2020824"/>
            <a:ext cx="545896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1A2E"/>
                </a:solidFill>
                <a:latin typeface="Calibri"/>
              </a:rPr>
              <a:t>First paper to study calibration data choice for LLM quantization. Tested WikiText, C4, PTB, domain-adjacent data on standard base models (Llama, Mistral, OPT). Found calibration data does matter.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52344"/>
            <a:ext cx="5504688" cy="502920"/>
          </a:xfrm>
          <a:prstGeom prst="rect">
            <a:avLst/>
          </a:prstGeom>
          <a:solidFill>
            <a:srgbClr val="FFF0DB"/>
          </a:solidFill>
          <a:ln w="9525">
            <a:solidFill>
              <a:srgbClr val="E87C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798063"/>
            <a:ext cx="53675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CRITICAL GAP: Only tested BASE models — no domain fine-tuning applied. The effect of LoRA/SFT on calibration sensitivity was never studied.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1072" y="1078992"/>
            <a:ext cx="5687568" cy="23042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2512" y="1170432"/>
            <a:ext cx="1645920" cy="228600"/>
          </a:xfrm>
          <a:prstGeom prst="rect">
            <a:avLst/>
          </a:prstGeom>
          <a:solidFill>
            <a:srgbClr val="E87C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188720"/>
            <a:ext cx="1572768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DIRECT PREDECESSOR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1463039"/>
            <a:ext cx="54589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E3A5F"/>
                </a:solidFill>
                <a:latin typeface="Calibri"/>
              </a:rPr>
              <a:t>Williams, Chrysostomou &amp; Aletras — NAACL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1737360"/>
            <a:ext cx="54589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6B728E"/>
                </a:solidFill>
                <a:latin typeface="Calibri"/>
              </a:rPr>
              <a:t>"Self-Calibration for Language Model Quantization and Pruning"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2020824"/>
            <a:ext cx="545896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1A2E"/>
                </a:solidFill>
                <a:latin typeface="Calibri"/>
              </a:rPr>
              <a:t>Follow-on: if calibration data matters, eliminate external data dependency. Model generates its own synthetic completions for calibration. Matches or beats best generic calibration on standard benchmarks.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2752344"/>
            <a:ext cx="5504688" cy="502920"/>
          </a:xfrm>
          <a:prstGeom prst="rect">
            <a:avLst/>
          </a:prstGeom>
          <a:solidFill>
            <a:srgbClr val="FFF0DB"/>
          </a:solidFill>
          <a:ln w="9525">
            <a:solidFill>
              <a:srgbClr val="E87C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2798063"/>
            <a:ext cx="53675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CRITICAL GAP: Again, only base models tested. Self-calibration for domain fine-tuned models — and whether model-generated text reproduces domain activation patterns — was never studied.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630168"/>
            <a:ext cx="5687568" cy="23042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721608"/>
            <a:ext cx="1645920" cy="2286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2336" y="3739896"/>
            <a:ext cx="1572768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QUANTIZATION METHOD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79" y="4014216"/>
            <a:ext cx="54589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E3A5F"/>
                </a:solidFill>
                <a:latin typeface="Calibri"/>
              </a:rPr>
              <a:t>AWQ (Lin et al.) — MLSys 2024 Best Paper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79" y="4288536"/>
            <a:ext cx="54589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6B728E"/>
                </a:solidFill>
                <a:latin typeface="Calibri"/>
              </a:rPr>
              <a:t>"AWQ: Activation-aware Weight Quantization for LLM Compression and Acceleration"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79" y="4572000"/>
            <a:ext cx="545896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1A2E"/>
                </a:solidFill>
                <a:latin typeface="Calibri"/>
              </a:rPr>
              <a:t>State-of-the-art W4A16 quantization. Protects high-salience weight channels via activation magnitude observation during calibration. Default calibration: WikiText-2 (512 samples).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303520"/>
            <a:ext cx="5504688" cy="502920"/>
          </a:xfrm>
          <a:prstGeom prst="rect">
            <a:avLst/>
          </a:prstGeom>
          <a:solidFill>
            <a:srgbClr val="DCFCE8"/>
          </a:solidFill>
          <a:ln w="9525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5349240"/>
            <a:ext cx="53675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ROLE: AWQ is one of three formats we test. Sensitivity: ~0.3pp MMLU, ~0.8pp WMDP across C1/C2/C3.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91072" y="3630168"/>
            <a:ext cx="5687568" cy="23042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82512" y="3721608"/>
            <a:ext cx="1645920" cy="2286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3739896"/>
            <a:ext cx="1572768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QUANTIZATION METHOD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28232" y="4014216"/>
            <a:ext cx="54589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E3A5F"/>
                </a:solidFill>
                <a:latin typeface="Calibri"/>
              </a:rPr>
              <a:t>SmoothQuant (Xiao et al.) — ICML 2023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8232" y="4288536"/>
            <a:ext cx="54589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6B728E"/>
                </a:solidFill>
                <a:latin typeface="Calibri"/>
              </a:rPr>
              <a:t>"SmoothQuant: Accurate and Efficient Post-Training Quantization for LLMs"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28232" y="4572000"/>
            <a:ext cx="545896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1A2E"/>
                </a:solidFill>
                <a:latin typeface="Calibri"/>
              </a:rPr>
              <a:t>Enables W8A8 quantization by smoothing activation outliers via mathematically equivalent per-channel scaling. Widely deployed in production. Default calibration: C4.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82512" y="5303520"/>
            <a:ext cx="5504688" cy="502920"/>
          </a:xfrm>
          <a:prstGeom prst="rect">
            <a:avLst/>
          </a:prstGeom>
          <a:solidFill>
            <a:srgbClr val="DCFCE8"/>
          </a:solidFill>
          <a:ln w="9525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73952" y="5349240"/>
            <a:ext cx="53675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ROLE: SmoothQuant is the calibration-critical format. Sensitivity: 9.31pp MMLU spread, with catastrophic C2 self-calibration failure.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6035040"/>
            <a:ext cx="11640312" cy="65836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609904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7C21"/>
                </a:solidFill>
                <a:latin typeface="Calibri"/>
              </a:rPr>
              <a:t xml:space="preserve">✦  THE OPEN QUESTION: 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91840" y="6099048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No paper has studied how domain fine-tuning (LoRA/SFT) changes PTQ calibration sensitivity, nor whether domain-matched calibration data recovers accuracy loss. No prior work has mapped sensitivity across AWQ/SQ/FP8 for domain fine-tuned LLMs or identified the SmoothQuant self-calibration failure mode on fine-tuned models.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DACS: When Calibration Data Matters —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400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ADCFC"/>
                </a:solidFill>
                <a:latin typeface="Calibri"/>
              </a:rPr>
              <a:t>A sensitivity study, not a method proposal. Three honest contributions.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5486400" cy="5440680"/>
          </a:xfrm>
          <a:prstGeom prst="rect">
            <a:avLst/>
          </a:prstGeom>
          <a:solidFill>
            <a:srgbClr val="FFFFFF"/>
          </a:solidFill>
          <a:ln w="635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3A5F"/>
                </a:solidFill>
                <a:latin typeface="Calibri"/>
              </a:rPr>
              <a:t>What Changes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5120640" cy="2743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7276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1A2E"/>
                </a:solidFill>
                <a:latin typeface="Calibri"/>
              </a:rPr>
              <a:t>Replace the calibration dataset.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92807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28E"/>
                </a:solidFill>
                <a:latin typeface="Calibri"/>
              </a:rPr>
              <a:t>That's it. One line of code change.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240280"/>
            <a:ext cx="5303520" cy="804672"/>
          </a:xfrm>
          <a:prstGeom prst="rect">
            <a:avLst/>
          </a:prstGeom>
          <a:solidFill>
            <a:srgbClr val="FFE4E4"/>
          </a:solidFill>
          <a:ln w="95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30428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C2626"/>
                </a:solidFill>
                <a:latin typeface="Calibri"/>
              </a:rPr>
              <a:t>BEFORE (Standard Industry Practice)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4203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1A2E"/>
                </a:solidFill>
                <a:latin typeface="Courier New"/>
              </a:rPr>
              <a:t>calibration_data = load_wikitext(n=512)
model_quantized  = awq.quantize(model, calibration_data)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127248"/>
            <a:ext cx="5303520" cy="804672"/>
          </a:xfrm>
          <a:prstGeom prst="rect">
            <a:avLst/>
          </a:prstGeom>
          <a:solidFill>
            <a:srgbClr val="DCFCE8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19125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A34A"/>
                </a:solidFill>
                <a:latin typeface="Calibri"/>
              </a:rPr>
              <a:t>AFTER (DACS — proposed)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42900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1A2E"/>
                </a:solidFill>
                <a:latin typeface="Courier New"/>
              </a:rPr>
              <a:t>calibration_data = sample_sft_corpus(n=512)  # ← DACS
model_quantized  = awq.quantize(model, calibration_data)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04164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3A5F"/>
                </a:solidFill>
                <a:latin typeface="Calibri"/>
              </a:rPr>
              <a:t>The Three-Way Test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370832"/>
            <a:ext cx="5303520" cy="594360"/>
          </a:xfrm>
          <a:prstGeom prst="rect">
            <a:avLst/>
          </a:prstGeom>
          <a:solidFill>
            <a:srgbClr val="FFF0DB"/>
          </a:solidFill>
          <a:ln w="9525">
            <a:solidFill>
              <a:srgbClr val="E87C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4370832"/>
            <a:ext cx="411480" cy="594360"/>
          </a:xfrm>
          <a:prstGeom prst="rect">
            <a:avLst/>
          </a:prstGeom>
          <a:solidFill>
            <a:srgbClr val="E87C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517136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C1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441655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1A2E"/>
                </a:solidFill>
                <a:latin typeface="Calibri"/>
              </a:rPr>
              <a:t>Generic (WikiText)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663440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28E"/>
                </a:solidFill>
                <a:latin typeface="Calibri"/>
              </a:rPr>
              <a:t>Industry standard. Baseline from Williams ACL 2024.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029200"/>
            <a:ext cx="5303520" cy="594360"/>
          </a:xfrm>
          <a:prstGeom prst="rect">
            <a:avLst/>
          </a:prstGeom>
          <a:solidFill>
            <a:srgbClr val="EEF2FF"/>
          </a:solidFill>
          <a:ln w="9525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5029200"/>
            <a:ext cx="41148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5175504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C2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507492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1A2E"/>
                </a:solidFill>
                <a:latin typeface="Calibri"/>
              </a:rPr>
              <a:t>Self-Calibration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5321808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28E"/>
                </a:solidFill>
                <a:latin typeface="Calibri"/>
              </a:rPr>
              <a:t>Model generates own text. Baseline from Williams NAACL 2025.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687568"/>
            <a:ext cx="5303520" cy="594360"/>
          </a:xfrm>
          <a:prstGeom prst="rect">
            <a:avLst/>
          </a:prstGeom>
          <a:solidFill>
            <a:srgbClr val="DCFCE8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5687568"/>
            <a:ext cx="411480" cy="5943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5833872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C3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" y="57332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1A2E"/>
                </a:solidFill>
                <a:latin typeface="Calibri"/>
              </a:rPr>
              <a:t>DACS (Proposed)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5980176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28E"/>
                </a:solidFill>
                <a:latin typeface="Calibri"/>
              </a:rPr>
              <a:t>512 samples from fine-tuning corpus. Our method.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1097280"/>
            <a:ext cx="5897880" cy="5440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3640" y="118872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3 Honest Contributions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63640" y="1554480"/>
            <a:ext cx="5394960" cy="2743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1664208"/>
            <a:ext cx="5577840" cy="1115568"/>
          </a:xfrm>
          <a:prstGeom prst="rect">
            <a:avLst/>
          </a:prstGeom>
          <a:solidFill>
            <a:srgbClr val="141B4D"/>
          </a:solidFill>
          <a:ln w="635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72200" y="1664208"/>
            <a:ext cx="347472" cy="111556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204825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171907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ADCFC"/>
                </a:solidFill>
                <a:latin typeface="Calibri"/>
              </a:rPr>
              <a:t>Format-Dependent Sensitivity Hierarchy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1993392"/>
            <a:ext cx="502920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Cross-format characterization: FP8 is calibration-agnostic (0.00pp MMLU), AWQ mildly sensitive (≤0.3pp), SmoothQuant highly sensitive (9.31pp). Order is mechanistically predictable from each format's calibration dependence.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72200" y="2834640"/>
            <a:ext cx="5577840" cy="1115568"/>
          </a:xfrm>
          <a:prstGeom prst="rect">
            <a:avLst/>
          </a:prstGeom>
          <a:solidFill>
            <a:srgbClr val="141B4D"/>
          </a:solidFill>
          <a:ln w="635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72200" y="2834640"/>
            <a:ext cx="347472" cy="111556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72200" y="3218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28895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ADCFC"/>
                </a:solidFill>
                <a:latin typeface="Calibri"/>
              </a:rPr>
              <a:t>SmoothQuant Self-Calibration Failure Mode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3163824"/>
            <a:ext cx="502920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Self-generated calibration causes a 9.31pp MMLU regression under SQ INT8 on fine-tuned models. Mechanism: activation-range underestimation during narrow autoregressive decoding. Qualifies Williams NAACL 2025's 'self-cal is safe' result: not safe for joint W/A quantization on fine-tuned models.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72200" y="4005072"/>
            <a:ext cx="5577840" cy="1115568"/>
          </a:xfrm>
          <a:prstGeom prst="rect">
            <a:avLst/>
          </a:prstGeom>
          <a:solidFill>
            <a:srgbClr val="141B4D"/>
          </a:solidFill>
          <a:ln w="635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72200" y="4005072"/>
            <a:ext cx="347472" cy="111556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72200" y="438912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4059935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ADCFC"/>
                </a:solidFill>
                <a:latin typeface="Calibri"/>
              </a:rPr>
              <a:t>Practitioner Decision Surface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0" y="4334256"/>
            <a:ext cx="502920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Use FP8 when hardware allows (calibration-agnostic). For AWQ, domain calibration gives a small consistent gain (+0.55pp WMDP, +0.22pp MMLU). For SmoothQuant, avoid self-generated calibration at all costs; treat calibration choice as deployment-critical.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72200" y="5175504"/>
            <a:ext cx="5577840" cy="1115568"/>
          </a:xfrm>
          <a:prstGeom prst="rect">
            <a:avLst/>
          </a:prstGeom>
          <a:solidFill>
            <a:srgbClr val="141B4D"/>
          </a:solidFill>
          <a:ln w="635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72200" y="5175504"/>
            <a:ext cx="347472" cy="111556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72200" y="555955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0" y="523036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ADCFC"/>
                </a:solidFill>
                <a:latin typeface="Calibri"/>
              </a:rPr>
              <a:t/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0" y="5504688"/>
            <a:ext cx="502920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Experiment Plan: 7 Activities, ~50 GPU Hours, Under $31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400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ADCFC"/>
                </a:solidFill>
                <a:latin typeface="Calibri"/>
              </a:rPr>
              <a:t>All experiments on a single A10G GPU (24GB VRAM). No distributed training. All code already partially written.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15568"/>
            <a:ext cx="1051560" cy="347472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33856"/>
            <a:ext cx="96011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Activity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1325880" y="1115568"/>
            <a:ext cx="3657600" cy="347472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133856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983480" y="1115568"/>
            <a:ext cx="777240" cy="347472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1133856"/>
            <a:ext cx="685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720" y="1115568"/>
            <a:ext cx="640080" cy="347472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06440" y="1133856"/>
            <a:ext cx="548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GPU hrs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115568"/>
            <a:ext cx="548640" cy="347472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133856"/>
            <a:ext cx="457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Days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0" y="1115568"/>
            <a:ext cx="640080" cy="347472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59" y="1133856"/>
            <a:ext cx="548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Cost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19" y="1115568"/>
            <a:ext cx="4709160" cy="347472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5240" y="1133856"/>
            <a:ext cx="4617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Output / Benchmark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1481328"/>
            <a:ext cx="1051560" cy="512064"/>
          </a:xfrm>
          <a:prstGeom prst="rect">
            <a:avLst/>
          </a:prstGeom>
          <a:solidFill>
            <a:srgbClr val="DCFCE8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1527048"/>
            <a:ext cx="9601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A1A2E"/>
                </a:solidFill>
                <a:latin typeface="Calibri"/>
              </a:rPr>
              <a:t>Activity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25880" y="1481328"/>
            <a:ext cx="3657600" cy="512064"/>
          </a:xfrm>
          <a:prstGeom prst="rect">
            <a:avLst/>
          </a:prstGeom>
          <a:solidFill>
            <a:srgbClr val="DCFCE8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0" y="1527048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QLoRA Fine-Tune — 83K cybersecurity examples (COMPLETE)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83480" y="1481328"/>
            <a:ext cx="777240" cy="512064"/>
          </a:xfrm>
          <a:prstGeom prst="rect">
            <a:avLst/>
          </a:prstGeom>
          <a:solidFill>
            <a:srgbClr val="DCFCE8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0" y="1527048"/>
            <a:ext cx="685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6A34A"/>
                </a:solidFill>
                <a:latin typeface="Calibri"/>
              </a:rPr>
              <a:t>✅ DONE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60720" y="1481328"/>
            <a:ext cx="640080" cy="512064"/>
          </a:xfrm>
          <a:prstGeom prst="rect">
            <a:avLst/>
          </a:prstGeom>
          <a:solidFill>
            <a:srgbClr val="DCFCE8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6440" y="1527048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17.87h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1481328"/>
            <a:ext cx="548640" cy="512064"/>
          </a:xfrm>
          <a:prstGeom prst="rect">
            <a:avLst/>
          </a:prstGeom>
          <a:solidFill>
            <a:srgbClr val="DCFCE8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52704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0" y="1481328"/>
            <a:ext cx="640080" cy="512064"/>
          </a:xfrm>
          <a:prstGeom prst="rect">
            <a:avLst/>
          </a:prstGeom>
          <a:solidFill>
            <a:srgbClr val="DCFCE8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95159" y="1527048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$33.30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89519" y="1481328"/>
            <a:ext cx="4709160" cy="512064"/>
          </a:xfrm>
          <a:prstGeom prst="rect">
            <a:avLst/>
          </a:prstGeom>
          <a:solidFill>
            <a:srgbClr val="DCFCE8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35240" y="1527048"/>
            <a:ext cx="4617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LoRA adapter  |  Perplexity 5.22 → 2.04  (61%)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1993392"/>
            <a:ext cx="1051560" cy="512064"/>
          </a:xfrm>
          <a:prstGeom prst="rect">
            <a:avLst/>
          </a:prstGeom>
          <a:solidFill>
            <a:srgbClr val="DCFCE8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2039112"/>
            <a:ext cx="9601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A1A2E"/>
                </a:solidFill>
                <a:latin typeface="Calibri"/>
              </a:rPr>
              <a:t>Activity 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25880" y="1993392"/>
            <a:ext cx="3657600" cy="512064"/>
          </a:xfrm>
          <a:prstGeom prst="rect">
            <a:avLst/>
          </a:prstGeom>
          <a:solidFill>
            <a:srgbClr val="DCFCE8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371600" y="2039112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Adapter Merge + FP16 Baseline Evaluation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83480" y="1993392"/>
            <a:ext cx="777240" cy="512064"/>
          </a:xfrm>
          <a:prstGeom prst="rect">
            <a:avLst/>
          </a:prstGeom>
          <a:solidFill>
            <a:srgbClr val="DCFCE8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0" y="2039112"/>
            <a:ext cx="685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6A34A"/>
                </a:solidFill>
                <a:latin typeface="Calibri"/>
              </a:rPr>
              <a:t>✅ DONE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60720" y="1993392"/>
            <a:ext cx="640080" cy="512064"/>
          </a:xfrm>
          <a:prstGeom prst="rect">
            <a:avLst/>
          </a:prstGeom>
          <a:solidFill>
            <a:srgbClr val="DCFCE8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06440" y="203911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1h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1993392"/>
            <a:ext cx="548640" cy="512064"/>
          </a:xfrm>
          <a:prstGeom prst="rect">
            <a:avLst/>
          </a:prstGeom>
          <a:solidFill>
            <a:srgbClr val="DCFCE8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46520" y="2039112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Day 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49440" y="1993392"/>
            <a:ext cx="640080" cy="512064"/>
          </a:xfrm>
          <a:prstGeom prst="rect">
            <a:avLst/>
          </a:prstGeom>
          <a:solidFill>
            <a:srgbClr val="DCFCE8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95159" y="203911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$0.75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589519" y="1993392"/>
            <a:ext cx="4709160" cy="512064"/>
          </a:xfrm>
          <a:prstGeom prst="rect">
            <a:avLst/>
          </a:prstGeom>
          <a:solidFill>
            <a:srgbClr val="DCFCE8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35240" y="2039112"/>
            <a:ext cx="4617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Merged FP16 model  |  FP16 baseline: WMDP-Cyber ~44-46%, MMLU ~63-65%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2505456"/>
            <a:ext cx="105156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20040" y="2551176"/>
            <a:ext cx="9601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A1A2E"/>
                </a:solidFill>
                <a:latin typeface="Calibri"/>
              </a:rPr>
              <a:t>Act. 2A/B/C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325880" y="2505456"/>
            <a:ext cx="365760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371600" y="2551176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3-Way Calibration Experiment: Generic (C1) vs. Self (C2) vs. DACS (C3) — COMPLETE ✓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983480" y="2505456"/>
            <a:ext cx="77724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0" y="2551176"/>
            <a:ext cx="685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6A34A"/>
                </a:solidFill>
                <a:latin typeface="Calibri"/>
              </a:rPr>
              <a:t>✅ DONE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760720" y="2505456"/>
            <a:ext cx="64008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06440" y="2551176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10h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0" y="2505456"/>
            <a:ext cx="54864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46520" y="255117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Days 2–4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9440" y="2505456"/>
            <a:ext cx="64008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995159" y="2551176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$7.50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19" y="2505456"/>
            <a:ext cx="470916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35240" y="2551176"/>
            <a:ext cx="4617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9 models evaluated: AWQ/SQ/FP8 × C1/C2/C3 | WMDP-Cyber + MMLU benchmarked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3017520"/>
            <a:ext cx="105156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0040" y="3063240"/>
            <a:ext cx="9601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A1A2E"/>
                </a:solidFill>
                <a:latin typeface="Calibri"/>
              </a:rPr>
              <a:t>Activity 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325880" y="3017520"/>
            <a:ext cx="365760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371600" y="3063240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Multi-Domain Extension: Medical ✅ DONE | Code ✅ DONE (Apr 14, 2026)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983480" y="3017520"/>
            <a:ext cx="77724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029200" y="3063240"/>
            <a:ext cx="685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28E"/>
                </a:solidFill>
                <a:latin typeface="Calibri"/>
              </a:rPr>
              <a:t>✅ DONE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760720" y="3017520"/>
            <a:ext cx="64008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806440" y="3063240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15h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400800" y="3017520"/>
            <a:ext cx="54864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46520" y="3063240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Days 5–10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949440" y="3017520"/>
            <a:ext cx="64008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995159" y="3063240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$11.25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589519" y="3017520"/>
            <a:ext cx="470916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635240" y="3063240"/>
            <a:ext cx="4617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Test if format sensitivity hierarchy generalizes across domains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4320" y="3529584"/>
            <a:ext cx="105156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20040" y="3575304"/>
            <a:ext cx="9601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A1A2E"/>
                </a:solidFill>
                <a:latin typeface="Calibri"/>
              </a:rPr>
              <a:t>Activity 4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325880" y="3529584"/>
            <a:ext cx="365760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371600" y="3575304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Activation-Distribution Diagnostic (KL-div, per-layer)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983480" y="3529584"/>
            <a:ext cx="77724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029200" y="3575304"/>
            <a:ext cx="685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28E"/>
                </a:solidFill>
                <a:latin typeface="Calibri"/>
              </a:rPr>
              <a:t>✅ DONE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760720" y="3529584"/>
            <a:ext cx="64008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806440" y="3575304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5h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400800" y="3529584"/>
            <a:ext cx="54864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46520" y="3575304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Days 11–13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949440" y="3529584"/>
            <a:ext cx="64008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995159" y="3575304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$3.75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589519" y="3529584"/>
            <a:ext cx="470916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635240" y="3575304"/>
            <a:ext cx="4617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Per-layer KL  |  Validates SQ C2 mechanism + predictive metric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74320" y="4041648"/>
            <a:ext cx="105156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20040" y="4087368"/>
            <a:ext cx="9601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A1A2E"/>
                </a:solidFill>
                <a:latin typeface="Calibri"/>
              </a:rPr>
              <a:t>Activity 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25880" y="4041648"/>
            <a:ext cx="365760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371600" y="4087368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Evaluation Harness: CyberSecEval4, MMLU, MedQA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983480" y="4041648"/>
            <a:ext cx="77724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029200" y="4087368"/>
            <a:ext cx="685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28E"/>
                </a:solidFill>
                <a:latin typeface="Calibri"/>
              </a:rPr>
              <a:t>⏳ TODO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760720" y="4041648"/>
            <a:ext cx="64008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806440" y="4087368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2h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400800" y="4041648"/>
            <a:ext cx="54864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446520" y="408736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Parallel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949440" y="4041648"/>
            <a:ext cx="64008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995159" y="4087368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$1.50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89519" y="4041648"/>
            <a:ext cx="470916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635240" y="4087368"/>
            <a:ext cx="4617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Bootstrap CIs + automated benchmark pipeline for all configs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74320" y="4553712"/>
            <a:ext cx="105156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20040" y="4599432"/>
            <a:ext cx="9601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A1A2E"/>
                </a:solidFill>
                <a:latin typeface="Calibri"/>
              </a:rPr>
              <a:t>Activity 6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325880" y="4553712"/>
            <a:ext cx="365760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371600" y="4599432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Ablation Studies: calibration size, LoRA rank, domain proximity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983480" y="4553712"/>
            <a:ext cx="77724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029200" y="4599432"/>
            <a:ext cx="685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28E"/>
                </a:solidFill>
                <a:latin typeface="Calibri"/>
              </a:rPr>
              <a:t>⏳ TODO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760720" y="4553712"/>
            <a:ext cx="64008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806440" y="459943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8h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400800" y="4553712"/>
            <a:ext cx="54864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446520" y="4599432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Days 14–18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949440" y="4553712"/>
            <a:ext cx="64008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95159" y="459943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$6.00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589519" y="4553712"/>
            <a:ext cx="470916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635240" y="4599432"/>
            <a:ext cx="4617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Calibration size, LoRA rank, domain proximity ablations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74320" y="5065776"/>
            <a:ext cx="105156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20040" y="5111496"/>
            <a:ext cx="9601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A1A2E"/>
                </a:solidFill>
                <a:latin typeface="Calibri"/>
              </a:rPr>
              <a:t>Activity 7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325880" y="5065776"/>
            <a:ext cx="365760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371600" y="5111496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Figures (×4) in paper ✅ | Tables in paper ✅ | Code eval ✅ DONE | Results committed d1ee399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4983480" y="5065776"/>
            <a:ext cx="77724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029200" y="5111496"/>
            <a:ext cx="685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28E"/>
                </a:solidFill>
                <a:latin typeface="Calibri"/>
              </a:rPr>
              <a:t>✅ DONE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760720" y="5065776"/>
            <a:ext cx="64008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806440" y="5111496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0h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400800" y="5065776"/>
            <a:ext cx="54864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446520" y="511149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Days 19–22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949440" y="5065776"/>
            <a:ext cx="64008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995159" y="5111496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$0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589519" y="5065776"/>
            <a:ext cx="470916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E0E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635240" y="5111496"/>
            <a:ext cx="4617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2E"/>
                </a:solidFill>
                <a:latin typeface="Calibri"/>
              </a:rPr>
              <a:t>3 figures created + wired into LaTeX ✅ | Code results section pending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274320" y="5577840"/>
            <a:ext cx="1164031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365760" y="563270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TOTAL  (Activities 1–7, excluding completed Activity 0)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797296" y="5632704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87C21"/>
                </a:solidFill>
                <a:latin typeface="Calibri"/>
              </a:rPr>
              <a:t>~41 hrs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437376" y="5632704"/>
            <a:ext cx="475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87C21"/>
                </a:solidFill>
                <a:latin typeface="Calibri"/>
              </a:rPr>
              <a:t>22 days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986016" y="5632704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87C21"/>
                </a:solidFill>
                <a:latin typeface="Calibri"/>
              </a:rPr>
              <a:t>~$30.75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626095" y="5632704"/>
            <a:ext cx="4636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ADCFC"/>
                </a:solidFill>
                <a:latin typeface="Calibri"/>
              </a:rPr>
              <a:t>Full paper draft ready for peer-reviewed EMNLP 2026 submission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15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0058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Activity 4 Complete — Mechanism Confirmed (Pearson r = 0.999)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126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ADCFC"/>
                </a:solidFill>
                <a:latin typeface="Calibri"/>
              </a:rPr>
              <a:t>May 25, 2026 ARR Submission Deadline  ·  2–3 hours/day  ·  Budapest, October 24–29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927860" cy="868680"/>
          </a:xfrm>
          <a:prstGeom prst="rect">
            <a:avLst/>
          </a:prstGeom>
          <a:solidFill>
            <a:srgbClr val="2A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59" y="1106424"/>
            <a:ext cx="18364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Week 1
Apr 1–6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59" y="1536192"/>
            <a:ext cx="18364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6A34A"/>
                </a:solidFill>
                <a:latin typeface="Calibri"/>
              </a:rPr>
              <a:t>✓ Acts. 0–2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7900" y="1078992"/>
            <a:ext cx="1927860" cy="868680"/>
          </a:xfrm>
          <a:prstGeom prst="rect">
            <a:avLst/>
          </a:prstGeom>
          <a:solidFill>
            <a:srgbClr val="2A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93620" y="1106424"/>
            <a:ext cx="18364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Weeks 2–3
Apr 7–20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93620" y="1536192"/>
            <a:ext cx="18364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6A34A"/>
                </a:solidFill>
                <a:latin typeface="Calibri"/>
              </a:rPr>
              <a:t>TODAY ← Apr 18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75760" y="1078992"/>
            <a:ext cx="1927860" cy="868680"/>
          </a:xfrm>
          <a:prstGeom prst="rect">
            <a:avLst/>
          </a:prstGeom>
          <a:solidFill>
            <a:srgbClr val="2A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21480" y="1106424"/>
            <a:ext cx="18364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Weeks 3–4
Apr 14–27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21480" y="1536192"/>
            <a:ext cx="18364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ADCFC"/>
                </a:solidFill>
                <a:latin typeface="Calibri"/>
              </a:rPr>
              <a:t>Multi-Domain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03620" y="1078992"/>
            <a:ext cx="1927860" cy="868680"/>
          </a:xfrm>
          <a:prstGeom prst="rect">
            <a:avLst/>
          </a:prstGeom>
          <a:solidFill>
            <a:srgbClr val="2A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9340" y="1106424"/>
            <a:ext cx="18364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Weeks 4–5
Apr 21–May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9340" y="1536192"/>
            <a:ext cx="18364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ADCFC"/>
                </a:solidFill>
                <a:latin typeface="Calibri"/>
              </a:rPr>
              <a:t>Ablations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31480" y="1078992"/>
            <a:ext cx="1927860" cy="868680"/>
          </a:xfrm>
          <a:prstGeom prst="rect">
            <a:avLst/>
          </a:prstGeom>
          <a:solidFill>
            <a:srgbClr val="2A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77200" y="1106424"/>
            <a:ext cx="18364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Weeks 5–6
May 4–18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77200" y="1536192"/>
            <a:ext cx="18364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ADCFC"/>
                </a:solidFill>
                <a:latin typeface="Calibri"/>
              </a:rPr>
              <a:t>Writing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59340" y="1078992"/>
            <a:ext cx="1927860" cy="868680"/>
          </a:xfrm>
          <a:prstGeom prst="rect">
            <a:avLst/>
          </a:prstGeom>
          <a:solidFill>
            <a:srgbClr val="E87C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5060" y="1106424"/>
            <a:ext cx="18364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E3A5F"/>
                </a:solidFill>
                <a:latin typeface="Calibri"/>
              </a:rPr>
              <a:t>Week 7
May 18–25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05060" y="1536192"/>
            <a:ext cx="18364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E3A5F"/>
                </a:solidFill>
                <a:latin typeface="Calibri"/>
              </a:rPr>
              <a:t>SUBMIT 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011680"/>
            <a:ext cx="1927860" cy="868680"/>
          </a:xfrm>
          <a:prstGeom prst="rect">
            <a:avLst/>
          </a:prstGeom>
          <a:solidFill>
            <a:srgbClr val="1E3A5F"/>
          </a:solidFill>
          <a:ln w="6350">
            <a:solidFill>
              <a:srgbClr val="2A52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4904" y="2057400"/>
            <a:ext cx="18181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CADCFC"/>
                </a:solidFill>
                <a:latin typeface="Calibri"/>
              </a:rPr>
              <a:t>Acts. 0-2 COMPLETE: fine-tune, FP16 baseline, 9 quantized models evaluated on WMDP-Cyber + MMLU.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47900" y="2011680"/>
            <a:ext cx="1927860" cy="868680"/>
          </a:xfrm>
          <a:prstGeom prst="rect">
            <a:avLst/>
          </a:prstGeom>
          <a:solidFill>
            <a:srgbClr val="1E3A5F"/>
          </a:solidFill>
          <a:ln w="6350">
            <a:solidFill>
              <a:srgbClr val="2A52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02764" y="2057400"/>
            <a:ext cx="18181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CADCFC"/>
                </a:solidFill>
                <a:latin typeface="Calibri"/>
              </a:rPr>
              <a:t>Act. 3: COMPLETE ✓ — 3-domain hierarchy confirmed (Cyber 9.31pp | Medical 2.41pp | Code 1.80pp SQ C2 regression; FP8 flat across all 3). Paper updated, fig3 (3-panel) + fig4 (summary chart) added.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75760" y="2011680"/>
            <a:ext cx="1927860" cy="868680"/>
          </a:xfrm>
          <a:prstGeom prst="rect">
            <a:avLst/>
          </a:prstGeom>
          <a:solidFill>
            <a:srgbClr val="1E3A5F"/>
          </a:solidFill>
          <a:ln w="6350">
            <a:solidFill>
              <a:srgbClr val="2A52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30623" y="2057400"/>
            <a:ext cx="18181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CADCFC"/>
                </a:solidFill>
                <a:latin typeface="Calibri"/>
              </a:rPr>
              <a:t>Act. 4: COMPLETE ✓ — Activation range analysis. Cyber C2 gap=0.212 (100% layers), Pearson r=0.999. Mechanism confirmed. Figs 5+6 in paper.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03620" y="2011680"/>
            <a:ext cx="1927860" cy="868680"/>
          </a:xfrm>
          <a:prstGeom prst="rect">
            <a:avLst/>
          </a:prstGeom>
          <a:solidFill>
            <a:srgbClr val="1E3A5F"/>
          </a:solidFill>
          <a:ln w="6350">
            <a:solidFill>
              <a:srgbClr val="2A52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58483" y="2057400"/>
            <a:ext cx="18181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CADCFC"/>
                </a:solidFill>
                <a:latin typeface="Calibri"/>
              </a:rPr>
              <a:t>Acts. 5-6: bootstrap CIs, calibration-size and LoRA-rank ablations. Figures + tables.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31480" y="2011680"/>
            <a:ext cx="1927860" cy="868680"/>
          </a:xfrm>
          <a:prstGeom prst="rect">
            <a:avLst/>
          </a:prstGeom>
          <a:solidFill>
            <a:srgbClr val="1E3A5F"/>
          </a:solidFill>
          <a:ln w="6350">
            <a:solidFill>
              <a:srgbClr val="2A52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86344" y="2057400"/>
            <a:ext cx="18181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CADCFC"/>
                </a:solidFill>
                <a:latin typeface="Calibri"/>
              </a:rPr>
              <a:t>All paper sections: Introduction, Method, Experiments, Related Work, Conclusion.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959340" y="2011680"/>
            <a:ext cx="1927860" cy="868680"/>
          </a:xfrm>
          <a:prstGeom prst="rect">
            <a:avLst/>
          </a:prstGeom>
          <a:solidFill>
            <a:srgbClr val="1E3A5F"/>
          </a:solidFill>
          <a:ln w="6350">
            <a:solidFill>
              <a:srgbClr val="2A52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14204" y="2057400"/>
            <a:ext cx="18181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E87C21"/>
                </a:solidFill>
                <a:latin typeface="Calibri"/>
              </a:rPr>
              <a:t>Final revision + ARR submission May 25. All authors register as reviewers by May 27.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" y="3035808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The Three Asks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3364991"/>
            <a:ext cx="7772400" cy="2743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0040" y="3419856"/>
            <a:ext cx="2514600" cy="2395728"/>
          </a:xfrm>
          <a:prstGeom prst="rect">
            <a:avLst/>
          </a:prstGeom>
          <a:solidFill>
            <a:srgbClr val="1E3A5F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20040" y="3419856"/>
            <a:ext cx="2514600" cy="2926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3192" y="3438144"/>
            <a:ext cx="24048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Ask 1  ·  HARD BLOCKER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79" y="37673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GPU Access 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79" y="4059935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CADCFC"/>
                </a:solidFill>
                <a:latin typeface="Calibri"/>
              </a:rPr>
              <a:t>A10G (24GB) — ~41 hrs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79" y="4297679"/>
            <a:ext cx="2331720" cy="182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79" y="4370831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CADCFC"/>
                </a:solidFill>
                <a:latin typeface="Calibri"/>
              </a:rPr>
              <a:t>Optum Azure ML / AWS SageMaker allocation, OR
~$37.50 on Lambda Cloud ($100 budget covers all experiments + buffer.
Needed within 5 days to hit May 25 deadline.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71800" y="3419856"/>
            <a:ext cx="2514600" cy="2395728"/>
          </a:xfrm>
          <a:prstGeom prst="rect">
            <a:avLst/>
          </a:prstGeom>
          <a:solidFill>
            <a:srgbClr val="1E3A5F"/>
          </a:solidFill>
          <a:ln w="12700">
            <a:solidFill>
              <a:srgbClr val="E87C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971800" y="3419856"/>
            <a:ext cx="2514600" cy="292608"/>
          </a:xfrm>
          <a:prstGeom prst="rect">
            <a:avLst/>
          </a:prstGeom>
          <a:solidFill>
            <a:srgbClr val="E87C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44952" y="3438144"/>
            <a:ext cx="24048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Ask 2  ·  MOST IMPORTANT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63240" y="37673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Research Time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63240" y="4059935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CADCFC"/>
                </a:solidFill>
                <a:latin typeface="Calibri"/>
              </a:rPr>
              <a:t>30–40% of working time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063240" y="4297679"/>
            <a:ext cx="2331720" cy="18288"/>
          </a:xfrm>
          <a:prstGeom prst="rect">
            <a:avLst/>
          </a:prstGeom>
          <a:solidFill>
            <a:srgbClr val="E87C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063240" y="4370831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CADCFC"/>
                </a:solidFill>
                <a:latin typeface="Calibri"/>
              </a:rPr>
              <a:t>~2–3 hours focused work per day for 6 weeks.
Remaining time stays on Army AI Tutor deliverables.
If only 15–20% available → AAAI 2027 (Aug 1) becomes primary target.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23559" y="3419856"/>
            <a:ext cx="2514600" cy="2395728"/>
          </a:xfrm>
          <a:prstGeom prst="rect">
            <a:avLst/>
          </a:prstGeom>
          <a:solidFill>
            <a:srgbClr val="1E3A5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623559" y="3419856"/>
            <a:ext cx="2514600" cy="29260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96712" y="3438144"/>
            <a:ext cx="24048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Ask 3  ·  NICE TO HAVE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14999" y="37673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O'Reilly Subscription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14999" y="4059935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CADCFC"/>
                </a:solidFill>
                <a:latin typeface="Calibri"/>
              </a:rPr>
              <a:t>~$500/yr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714999" y="4297679"/>
            <a:ext cx="2331720" cy="1828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14999" y="4370831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CADCFC"/>
                </a:solidFill>
                <a:latin typeface="Calibri"/>
              </a:rPr>
              <a:t>PyTorch internals, LLM deployment guides, quantization deep-dives.
Check if Optum already has enterprise agreement.
Can work without it — public arXiv papers sufficient.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21040" y="3035808"/>
            <a:ext cx="3657600" cy="2816352"/>
          </a:xfrm>
          <a:prstGeom prst="rect">
            <a:avLst/>
          </a:prstGeom>
          <a:solidFill>
            <a:srgbClr val="1E3A5F"/>
          </a:solidFill>
          <a:ln w="9525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30767" y="312724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Acceptance Probability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30767" y="3429000"/>
            <a:ext cx="3429000" cy="1828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58200" y="354787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ADCFC"/>
                </a:solidFill>
                <a:latin typeface="Calibri"/>
              </a:rPr>
              <a:t>EMNLP 2026 Main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652759" y="3547872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7C21"/>
                </a:solidFill>
                <a:latin typeface="Calibri"/>
              </a:rPr>
              <a:t>45–55% with Act4 complete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58200" y="4078224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ADCFC"/>
                </a:solidFill>
                <a:latin typeface="Calibri"/>
              </a:rPr>
              <a:t>EMNLP 2026 Findings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52759" y="4078224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A34A"/>
                </a:solidFill>
                <a:latin typeface="Calibri"/>
              </a:rPr>
              <a:t>70–75% with Act4 complete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58200" y="4608576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ADCFC"/>
                </a:solidFill>
                <a:latin typeface="Calibri"/>
              </a:rPr>
              <a:t>BlackboxNLP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52759" y="4608576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28090"/>
                </a:solidFill>
                <a:latin typeface="Calibri"/>
              </a:rPr>
              <a:t>75–85%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58200" y="5138927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ADCFC"/>
                </a:solidFill>
                <a:latin typeface="Calibri"/>
              </a:rPr>
              <a:t>ENLSP @ NeurIPS 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52759" y="5138927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B728E"/>
                </a:solidFill>
                <a:latin typeface="Calibri"/>
              </a:rPr>
              <a:t>65–75%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15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65760" y="6336792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The gap is confirmed.  The experiments cost &lt; $31.  The infrastructure is partially built.  A 15–40% shot at a named A* publication is worth the attempt.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326880" y="635508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CADCFC"/>
                </a:solidFill>
                <a:latin typeface="Calibri"/>
              </a:rPr>
              <a:t>Deepank Dixit  |  Optum AI Research  |  April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